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f651747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f651747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f6517476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f6517476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f6517476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f6517476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f6517476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f6517476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f6517476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f6517476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f6517476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f6517476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f6517476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f6517476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b85ee8fc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b85ee8fc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85ee8fc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85ee8fc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ata.gov" TargetMode="External"/><Relationship Id="rId4" Type="http://schemas.openxmlformats.org/officeDocument/2006/relationships/hyperlink" Target="https://catalog.data.gov/dataset/u-s-chronic-disease-indicator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375" y="1289850"/>
            <a:ext cx="2951400" cy="1584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/>
              <a:t>Demographic Disparities in Cancer Rates Across U.S. States</a:t>
            </a:r>
            <a:endParaRPr sz="22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Zeb Moffat</a:t>
            </a:r>
            <a:endParaRPr sz="2300"/>
          </a:p>
        </p:txBody>
      </p:sp>
      <p:sp>
        <p:nvSpPr>
          <p:cNvPr id="61" name="Google Shape;61;p13"/>
          <p:cNvSpPr txBox="1"/>
          <p:nvPr/>
        </p:nvSpPr>
        <p:spPr>
          <a:xfrm>
            <a:off x="3956400" y="158400"/>
            <a:ext cx="123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INFO 511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0" y="0"/>
            <a:ext cx="810900" cy="5143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13"/>
          <p:cNvSpPr/>
          <p:nvPr/>
        </p:nvSpPr>
        <p:spPr>
          <a:xfrm rot="10800000">
            <a:off x="8333250" y="0"/>
            <a:ext cx="810900" cy="5143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0" y="385400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cancer incidence rates differ significantly between demographic groups (sex, race/ethnicity) across U.S. States?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2662875"/>
            <a:ext cx="914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Why?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Cancer is a leading cause of mortality in the U.S.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Understanding disparities can inform for targeted interventions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U.S. Chronic Disease Indicators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Publisher: Centers for Disease Control and Prevention (CDC) via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data.gov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Asthma, cancer, arthritis, etc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States + Territories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URL: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https://catalog.data.gov/dataset/u-s-chronic-disease-indicators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License: Open Data Commons Open Database License (ODbL) v1.0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Publicly available, aggregated population-level data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No IRB required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76" name="Google Shape;76;p15"/>
          <p:cNvCxnSpPr/>
          <p:nvPr/>
        </p:nvCxnSpPr>
        <p:spPr>
          <a:xfrm>
            <a:off x="943950" y="4427275"/>
            <a:ext cx="7256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/>
          <p:nvPr/>
        </p:nvCxnSpPr>
        <p:spPr>
          <a:xfrm>
            <a:off x="943950" y="4126675"/>
            <a:ext cx="0" cy="60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5"/>
          <p:cNvCxnSpPr/>
          <p:nvPr/>
        </p:nvCxnSpPr>
        <p:spPr>
          <a:xfrm>
            <a:off x="8200050" y="4126675"/>
            <a:ext cx="0" cy="60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585425" y="3709175"/>
            <a:ext cx="83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2015                                                                                                                                                        2022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224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Processing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Transformation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331,109 total records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 1 - Cancer Topic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 2 - Age-Adjusted Rate (fair comparison across age)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 3 - Removed records with missing values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 4 - Removed US aggregates and Puerto Rico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Final Dataset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1,118 records for sex stratification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2,702 records for race/ethnicity stratification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34625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50"/>
              <a:t>Features &amp; Outcome</a:t>
            </a:r>
            <a:endParaRPr sz="2850"/>
          </a:p>
        </p:txBody>
      </p:sp>
      <p:sp>
        <p:nvSpPr>
          <p:cNvPr id="91" name="Google Shape;91;p17"/>
          <p:cNvSpPr/>
          <p:nvPr/>
        </p:nvSpPr>
        <p:spPr>
          <a:xfrm>
            <a:off x="349625" y="1308600"/>
            <a:ext cx="3611100" cy="12297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257300" y="1610400"/>
            <a:ext cx="1536300" cy="62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113000" y="1420425"/>
            <a:ext cx="2112600" cy="926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531888" y="1692600"/>
            <a:ext cx="92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6048350" y="1652925"/>
            <a:ext cx="22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Cancer Rate / 100k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72425" y="1652925"/>
            <a:ext cx="35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Demographic, State, Cancer Type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2748950"/>
            <a:ext cx="8594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Male/Female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White, Black, Hispanic, Asian/Pacific Islander, American Indian/Alaskan Native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States + Washington D.C.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Invasive, Lung, Colon, Cervical, Prostate, Breast Cancer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69950" y="39970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(Multiple Linear Regression)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11700" y="933950"/>
            <a:ext cx="823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Cancer Rate = β₀ + β₁(Demographics) + β₂(State) + β₃(Cancer Type) + error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80/20 Training and Test sets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Dummy Variables for categorical variables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0" y="2697000"/>
            <a:ext cx="5253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Sex Model</a:t>
            </a:r>
            <a:endParaRPr sz="1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1,118 sample size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 sexes, 51 locations, 7 cancers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R² Score: 0.987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RMSE: 18.5 per 100k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Excellent accuracy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301000" y="2697000"/>
            <a:ext cx="480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Race/Ethnicity</a:t>
            </a:r>
            <a:r>
              <a:rPr lang="en" sz="1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Model</a:t>
            </a:r>
            <a:endParaRPr sz="1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2702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sample size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5 races/ethnicities, 51 locations, 7 cancers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R² Score: 0.883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RMSE: 50.5 per 100k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Strong accuracy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11" y="16701"/>
            <a:ext cx="8679987" cy="50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36550" y="1903975"/>
            <a:ext cx="8520600" cy="19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Males face 33.08 per 100,000 higher cancer rates than females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Racial/ethnic groups show disparities up to 53.85 points per 100,000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Patterns are consistent across all U.S. states (controlled)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Findings are statistically robust and clinically significant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526975" y="1229863"/>
            <a:ext cx="833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YES - Cancer rates differ significantly by demographic groups across U.S. states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 Actions Needed: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Targeted screening programs for high-risk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 allocation adjusted to risk 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Prevention </a:t>
            </a:r>
            <a:r>
              <a:rPr lang="en"/>
              <a:t>campaigns</a:t>
            </a:r>
            <a:r>
              <a:rPr lang="en"/>
              <a:t> for specific groups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Policy Recommendations: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 social factors contributing to disparities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healthcare access for high risk populations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 in community-based interventions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3010650" y="1018750"/>
            <a:ext cx="3122700" cy="3122700"/>
          </a:xfrm>
          <a:prstGeom prst="ellipse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22"/>
          <p:cNvSpPr txBox="1"/>
          <p:nvPr>
            <p:ph type="title"/>
          </p:nvPr>
        </p:nvSpPr>
        <p:spPr>
          <a:xfrm>
            <a:off x="3728850" y="2024923"/>
            <a:ext cx="16863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00"/>
              <a:t>End</a:t>
            </a:r>
            <a:endParaRPr sz="6000"/>
          </a:p>
        </p:txBody>
      </p:sp>
      <p:sp>
        <p:nvSpPr>
          <p:cNvPr id="130" name="Google Shape;130;p22"/>
          <p:cNvSpPr/>
          <p:nvPr/>
        </p:nvSpPr>
        <p:spPr>
          <a:xfrm rot="5400000">
            <a:off x="0" y="0"/>
            <a:ext cx="2179200" cy="21792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2"/>
          <p:cNvSpPr/>
          <p:nvPr/>
        </p:nvSpPr>
        <p:spPr>
          <a:xfrm rot="10800000">
            <a:off x="6964800" y="0"/>
            <a:ext cx="2179200" cy="21792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